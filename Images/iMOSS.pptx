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40" d="100"/>
          <a:sy n="140" d="100"/>
        </p:scale>
        <p:origin x="11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0BA3-1210-BF0C-BFA3-B6E8F4CE7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74E4A-CCB5-55C8-6F87-865CE615E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6AF58-2F6D-86E8-45FF-3A36AF97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FD1E5-C096-6359-1051-C29A2B17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FB364-F5CE-4BDA-89AE-2485FF9B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1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21A8-D912-8B3F-B552-B2226E75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498CF-1ABE-17B6-2AC0-38CB10AE9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B2A9C-35B0-8637-0BB9-3A3E5248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ABD31-E751-41FE-BC7B-C7500EC8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2C38B-1626-9B48-0D4E-B7E70F35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9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0CBF-B6BF-2317-590C-307D3CDC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34D3B-69DE-5148-D6D1-4BD7E0E3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B44CE-673E-1FED-AA2A-CFAE171A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E2644-F971-7510-3389-D4B643A1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AF98-C06A-37C8-D3CC-CFA3CEDF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3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6EE5-AFBC-8AB4-BF74-1DD0386E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4CCA-079B-721E-C845-725925A48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78B7F-914F-071E-8277-5B7B491E9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1465C-B07D-D2BC-EB66-668A27B5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1654D-5E9C-00B2-5FF4-8EC002AB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47EFA-B949-6F81-31C4-02D47749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4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6196-4777-5683-8984-8869C20B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34CBD-023F-D686-33B5-326451BAA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F564F-B937-A759-3D3D-CDCB16DA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9FF26-AAE3-FCB2-ECB8-49FC2017D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EB37F-388F-091F-4E36-B3192E8DE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EED54-BA0D-6D04-3839-ED8B26C1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61628-BFE4-12E3-2A65-13154F06E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9DB94-9749-DBD6-8730-EC2C2A1E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1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2B18-FC92-31E0-956B-5BEA6CE4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04C65-C677-C4DA-FB50-1397F284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FE94E-FEDD-5E24-D3FD-CE61EC34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6ED8C-6116-02B6-4019-04020EDD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7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F2163D-03EA-37E8-AB4E-1F2F6BE5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D80EE-D9A7-3259-7E15-766FBC19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84D93-F412-32B2-708D-2BF48848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4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86F4-8FDE-C5AD-BB0C-514B3CDBC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E12DB-BE4B-E28C-9084-DDFA6BA1A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84540-5EE1-AFD2-1313-0042A6BD5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B4B46-2E1B-464A-F761-C8BFF43E9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77FD7-6A1D-918D-9DE9-487884F4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34EAE-09C7-004B-5030-9A25B793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328F-1C44-8185-612E-3993551D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A5866-C4DB-9847-B855-62309A06E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6F87F-4C81-0751-F61F-0EF558B3B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F8847-2848-ED35-F338-57164514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802B7-5620-3690-16BB-0FA34756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865A2-5556-DA1A-74C8-8EA03BBB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5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A33B-37DC-4A4C-137D-6C1470BA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E5621-57B6-6CED-576E-B0C43BE0E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59DA7-6429-A8A3-039A-B30AE1B3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F475A-3D2B-FF73-F63F-59B5EB68B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B6950-1C35-F94D-DC1D-65831C5F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8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8EFB7-FA29-6F96-6F1F-8CE213613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BFDE4-72A3-455A-50A1-C8CAFEC8B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3ABBB-880E-0B7D-7D6B-1DE4A27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38A63-48C7-58B0-916C-4284F094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8CDA3-6183-408D-2999-48B305C0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07AC0-C395-4470-B13C-CBAFDCD5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A02E3-9BDB-7C06-9DD1-8ACF7488E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E75FB-7BF6-E1A4-B260-BC5611A7D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7DB71-EF4B-944C-9C0D-507165162A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1FDAD-4CFC-408E-40E0-A6E5FCD6D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A2F43-2D33-68B9-5A03-36DDA6C85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AFAE8-5E4C-FB44-8B1D-C1E7A6A6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3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02170-C41A-C8D9-5F27-30BAC908B8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Hardware of </a:t>
            </a:r>
            <a:r>
              <a:rPr lang="en-US" dirty="0" err="1"/>
              <a:t>iMOSS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D2919-F70F-59E6-FB9B-C5EF789244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Zengyou Ye</a:t>
            </a:r>
          </a:p>
          <a:p>
            <a:r>
              <a:rPr lang="en-US" dirty="0"/>
              <a:t>https://</a:t>
            </a:r>
            <a:r>
              <a:rPr lang="en-US" dirty="0" err="1"/>
              <a:t>www.github.com</a:t>
            </a:r>
            <a:r>
              <a:rPr lang="en-US" dirty="0"/>
              <a:t>/addy9908/</a:t>
            </a:r>
            <a:r>
              <a:rPr lang="en-US" dirty="0" err="1"/>
              <a:t>iMOSS</a:t>
            </a:r>
            <a:endParaRPr lang="en-US" dirty="0"/>
          </a:p>
          <a:p>
            <a:r>
              <a:rPr lang="en-US" dirty="0"/>
              <a:t>Updated on 05/13/2026</a:t>
            </a:r>
          </a:p>
        </p:txBody>
      </p:sp>
    </p:spTree>
    <p:extLst>
      <p:ext uri="{BB962C8B-B14F-4D97-AF65-F5344CB8AC3E}">
        <p14:creationId xmlns:p14="http://schemas.microsoft.com/office/powerpoint/2010/main" val="2613023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FD2A-3461-0E1C-8CFD-3E3D85E3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iMOSS</a:t>
            </a:r>
            <a:r>
              <a:rPr lang="en-US" dirty="0"/>
              <a:t> workflow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F2F6EB-6C2B-D73F-BC61-60BA08C54F9C}"/>
              </a:ext>
            </a:extLst>
          </p:cNvPr>
          <p:cNvGrpSpPr/>
          <p:nvPr/>
        </p:nvGrpSpPr>
        <p:grpSpPr>
          <a:xfrm>
            <a:off x="4107994" y="2544997"/>
            <a:ext cx="3117415" cy="1544490"/>
            <a:chOff x="3747047" y="728228"/>
            <a:chExt cx="3117415" cy="1544490"/>
          </a:xfrm>
        </p:grpSpPr>
        <p:pic>
          <p:nvPicPr>
            <p:cNvPr id="6" name="Picture 5" descr="Diagram&#10;&#10;AI-generated content may be incorrect.">
              <a:extLst>
                <a:ext uri="{FF2B5EF4-FFF2-40B4-BE49-F238E27FC236}">
                  <a16:creationId xmlns:a16="http://schemas.microsoft.com/office/drawing/2014/main" id="{C06E762A-3B04-66BA-F14A-C67081D3B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91528" y="1372248"/>
              <a:ext cx="390809" cy="814842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62DC3D2-AD6B-46CD-AD0C-8F9F7F4D7BD9}"/>
                </a:ext>
              </a:extLst>
            </p:cNvPr>
            <p:cNvGrpSpPr/>
            <p:nvPr/>
          </p:nvGrpSpPr>
          <p:grpSpPr>
            <a:xfrm>
              <a:off x="3835619" y="1236263"/>
              <a:ext cx="473329" cy="197241"/>
              <a:chOff x="379175" y="4120008"/>
              <a:chExt cx="1296593" cy="484203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70AA266-27E8-A758-E9A1-DEE333EA5249}"/>
                  </a:ext>
                </a:extLst>
              </p:cNvPr>
              <p:cNvSpPr/>
              <p:nvPr/>
            </p:nvSpPr>
            <p:spPr>
              <a:xfrm>
                <a:off x="379175" y="4120008"/>
                <a:ext cx="1296593" cy="48420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E9713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36BE10A-EC45-9568-1E8B-A4E061EC38FA}"/>
                  </a:ext>
                </a:extLst>
              </p:cNvPr>
              <p:cNvGrpSpPr/>
              <p:nvPr/>
            </p:nvGrpSpPr>
            <p:grpSpPr>
              <a:xfrm>
                <a:off x="443175" y="4214264"/>
                <a:ext cx="1185638" cy="294141"/>
                <a:chOff x="491693" y="4214264"/>
                <a:chExt cx="1185638" cy="294141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C1CCA443-161C-6D7B-87B8-A2BCA469E249}"/>
                    </a:ext>
                  </a:extLst>
                </p:cNvPr>
                <p:cNvSpPr/>
                <p:nvPr/>
              </p:nvSpPr>
              <p:spPr>
                <a:xfrm>
                  <a:off x="537841" y="4214264"/>
                  <a:ext cx="294142" cy="29414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E9713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AF51AB19-07CC-C4C3-815B-F907E6313BDC}"/>
                    </a:ext>
                  </a:extLst>
                </p:cNvPr>
                <p:cNvSpPr/>
                <p:nvPr/>
              </p:nvSpPr>
              <p:spPr>
                <a:xfrm>
                  <a:off x="1319997" y="4214264"/>
                  <a:ext cx="294142" cy="29414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E9713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EDCFD6F-ED15-0DEF-5B74-07ECFB947F19}"/>
                    </a:ext>
                  </a:extLst>
                </p:cNvPr>
                <p:cNvSpPr/>
                <p:nvPr/>
              </p:nvSpPr>
              <p:spPr>
                <a:xfrm>
                  <a:off x="491693" y="4280015"/>
                  <a:ext cx="1185638" cy="1599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rgbClr val="E9713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Load Cell</a:t>
                  </a:r>
                </a:p>
              </p:txBody>
            </p:sp>
          </p:grp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E603FB4-5D3D-E323-92F9-04DC41EC8C8E}"/>
                </a:ext>
              </a:extLst>
            </p:cNvPr>
            <p:cNvCxnSpPr>
              <a:cxnSpLocks/>
              <a:stCxn id="34" idx="3"/>
              <a:endCxn id="9" idx="1"/>
            </p:cNvCxnSpPr>
            <p:nvPr/>
          </p:nvCxnSpPr>
          <p:spPr>
            <a:xfrm flipV="1">
              <a:off x="4308948" y="1334601"/>
              <a:ext cx="109894" cy="283"/>
            </a:xfrm>
            <a:prstGeom prst="straightConnector1">
              <a:avLst/>
            </a:prstGeom>
            <a:ln>
              <a:solidFill>
                <a:srgbClr val="E9713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54">
              <a:extLst>
                <a:ext uri="{FF2B5EF4-FFF2-40B4-BE49-F238E27FC236}">
                  <a16:creationId xmlns:a16="http://schemas.microsoft.com/office/drawing/2014/main" id="{9D386069-B809-02F5-A1C7-3A631B45899D}"/>
                </a:ext>
              </a:extLst>
            </p:cNvPr>
            <p:cNvSpPr/>
            <p:nvPr/>
          </p:nvSpPr>
          <p:spPr>
            <a:xfrm>
              <a:off x="4418842" y="1240718"/>
              <a:ext cx="451122" cy="1877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971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rgbClr val="E9713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Amplifier</a:t>
              </a:r>
            </a:p>
          </p:txBody>
        </p:sp>
        <p:sp>
          <p:nvSpPr>
            <p:cNvPr id="10" name="Rectangle: Rounded Corners 55">
              <a:extLst>
                <a:ext uri="{FF2B5EF4-FFF2-40B4-BE49-F238E27FC236}">
                  <a16:creationId xmlns:a16="http://schemas.microsoft.com/office/drawing/2014/main" id="{40ECC8F6-D889-31C5-FEB8-923E4DB3275B}"/>
                </a:ext>
              </a:extLst>
            </p:cNvPr>
            <p:cNvSpPr/>
            <p:nvPr/>
          </p:nvSpPr>
          <p:spPr>
            <a:xfrm>
              <a:off x="4418842" y="1563864"/>
              <a:ext cx="451122" cy="21512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971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>
                <a:lnSpc>
                  <a:spcPts val="800"/>
                </a:lnSpc>
              </a:pPr>
              <a:r>
                <a:rPr lang="en-US" sz="800" dirty="0">
                  <a:solidFill>
                    <a:srgbClr val="E9713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Arduino Uno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1421D60-E4A0-890B-39B4-A16CB70548CF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4644403" y="1428484"/>
              <a:ext cx="0" cy="135380"/>
            </a:xfrm>
            <a:prstGeom prst="straightConnector1">
              <a:avLst/>
            </a:prstGeom>
            <a:ln>
              <a:solidFill>
                <a:srgbClr val="E9713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phic 11" descr="Video camera outline">
              <a:extLst>
                <a:ext uri="{FF2B5EF4-FFF2-40B4-BE49-F238E27FC236}">
                  <a16:creationId xmlns:a16="http://schemas.microsoft.com/office/drawing/2014/main" id="{ADB8A9D4-C51A-CF50-9B73-A82CDE0ED7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379971" y="1727179"/>
              <a:ext cx="419153" cy="419153"/>
            </a:xfrm>
            <a:prstGeom prst="rect">
              <a:avLst/>
            </a:prstGeom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CD8B546-6ABD-6120-C2E8-CC86B57E8225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4869964" y="1671429"/>
              <a:ext cx="151187" cy="0"/>
            </a:xfrm>
            <a:prstGeom prst="straightConnector1">
              <a:avLst/>
            </a:prstGeom>
            <a:ln>
              <a:solidFill>
                <a:srgbClr val="E9713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Elbow 65">
              <a:extLst>
                <a:ext uri="{FF2B5EF4-FFF2-40B4-BE49-F238E27FC236}">
                  <a16:creationId xmlns:a16="http://schemas.microsoft.com/office/drawing/2014/main" id="{FA5F3259-D378-D083-1A45-07A7EE5DCDBA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V="1">
              <a:off x="4799124" y="1794764"/>
              <a:ext cx="342696" cy="141992"/>
            </a:xfrm>
            <a:prstGeom prst="bentConnector3">
              <a:avLst>
                <a:gd name="adj1" fmla="val 100647"/>
              </a:avLst>
            </a:prstGeom>
            <a:ln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ED8691E-2075-8CF5-AABD-E86F1764D811}"/>
                </a:ext>
              </a:extLst>
            </p:cNvPr>
            <p:cNvCxnSpPr>
              <a:cxnSpLocks/>
            </p:cNvCxnSpPr>
            <p:nvPr/>
          </p:nvCxnSpPr>
          <p:spPr>
            <a:xfrm>
              <a:off x="5785117" y="1654980"/>
              <a:ext cx="182880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3BE9A2-1D93-EAE0-0E74-57E836F63881}"/>
                </a:ext>
              </a:extLst>
            </p:cNvPr>
            <p:cNvSpPr txBox="1"/>
            <p:nvPr/>
          </p:nvSpPr>
          <p:spPr>
            <a:xfrm>
              <a:off x="5873420" y="1258024"/>
              <a:ext cx="6928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rgbClr val="E9713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iMOSS-AS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82F3EC5-2DD8-3345-D6BB-05A645AB65EE}"/>
                </a:ext>
              </a:extLst>
            </p:cNvPr>
            <p:cNvSpPr txBox="1"/>
            <p:nvPr/>
          </p:nvSpPr>
          <p:spPr>
            <a:xfrm>
              <a:off x="5875480" y="1548652"/>
              <a:ext cx="73472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iMOSS-MV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271201E-29B1-6A9C-7E21-972871EAF55C}"/>
                </a:ext>
              </a:extLst>
            </p:cNvPr>
            <p:cNvCxnSpPr>
              <a:cxnSpLocks/>
            </p:cNvCxnSpPr>
            <p:nvPr/>
          </p:nvCxnSpPr>
          <p:spPr>
            <a:xfrm>
              <a:off x="5784021" y="1369156"/>
              <a:ext cx="182880" cy="0"/>
            </a:xfrm>
            <a:prstGeom prst="straightConnector1">
              <a:avLst/>
            </a:prstGeom>
            <a:ln>
              <a:solidFill>
                <a:srgbClr val="E9713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62">
              <a:extLst>
                <a:ext uri="{FF2B5EF4-FFF2-40B4-BE49-F238E27FC236}">
                  <a16:creationId xmlns:a16="http://schemas.microsoft.com/office/drawing/2014/main" id="{1A551287-D549-CA9E-EF0B-61F40BD1E886}"/>
                </a:ext>
              </a:extLst>
            </p:cNvPr>
            <p:cNvSpPr/>
            <p:nvPr/>
          </p:nvSpPr>
          <p:spPr>
            <a:xfrm>
              <a:off x="5021151" y="1236263"/>
              <a:ext cx="807786" cy="56866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Bonsai-RX</a:t>
              </a:r>
            </a:p>
            <a:p>
              <a:pPr algn="ctr"/>
              <a:r>
                <a:rPr lang="en-US" sz="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(Monitor &amp; save)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E9CC171-17D7-1670-4F2C-423D59BF9765}"/>
                </a:ext>
              </a:extLst>
            </p:cNvPr>
            <p:cNvGrpSpPr/>
            <p:nvPr/>
          </p:nvGrpSpPr>
          <p:grpSpPr>
            <a:xfrm>
              <a:off x="3747047" y="732166"/>
              <a:ext cx="1273276" cy="1507691"/>
              <a:chOff x="566095" y="5856098"/>
              <a:chExt cx="1273276" cy="1507691"/>
            </a:xfrm>
          </p:grpSpPr>
          <p:sp>
            <p:nvSpPr>
              <p:cNvPr id="32" name="Rectangle: Rounded Corners 100">
                <a:extLst>
                  <a:ext uri="{FF2B5EF4-FFF2-40B4-BE49-F238E27FC236}">
                    <a16:creationId xmlns:a16="http://schemas.microsoft.com/office/drawing/2014/main" id="{034E4024-505F-6A5E-CA8C-1D2490251FD1}"/>
                  </a:ext>
                </a:extLst>
              </p:cNvPr>
              <p:cNvSpPr/>
              <p:nvPr/>
            </p:nvSpPr>
            <p:spPr>
              <a:xfrm>
                <a:off x="637376" y="6243161"/>
                <a:ext cx="1100175" cy="1120628"/>
              </a:xfrm>
              <a:prstGeom prst="round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CEFC9C8-84A9-1845-11AB-43F929C2515B}"/>
                  </a:ext>
                </a:extLst>
              </p:cNvPr>
              <p:cNvSpPr txBox="1"/>
              <p:nvPr/>
            </p:nvSpPr>
            <p:spPr>
              <a:xfrm>
                <a:off x="566095" y="5856098"/>
                <a:ext cx="12732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150019">
                  <a:spcBef>
                    <a:spcPct val="0"/>
                  </a:spcBef>
                </a:pP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TST</a:t>
                </a:r>
              </a:p>
              <a:p>
                <a:pPr algn="ctr" defTabSz="150019">
                  <a:spcBef>
                    <a:spcPct val="0"/>
                  </a:spcBef>
                </a:pP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Chamber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ED4E995-83A9-C050-5D8F-1465400BC0B0}"/>
                </a:ext>
              </a:extLst>
            </p:cNvPr>
            <p:cNvGrpSpPr/>
            <p:nvPr/>
          </p:nvGrpSpPr>
          <p:grpSpPr>
            <a:xfrm>
              <a:off x="4764763" y="732166"/>
              <a:ext cx="1273276" cy="1507691"/>
              <a:chOff x="1466321" y="5856098"/>
              <a:chExt cx="1273276" cy="1507691"/>
            </a:xfrm>
          </p:grpSpPr>
          <p:sp>
            <p:nvSpPr>
              <p:cNvPr id="30" name="Rectangle: Rounded Corners 105">
                <a:extLst>
                  <a:ext uri="{FF2B5EF4-FFF2-40B4-BE49-F238E27FC236}">
                    <a16:creationId xmlns:a16="http://schemas.microsoft.com/office/drawing/2014/main" id="{E79B08EC-5A9C-AC81-7019-15E9FD7F3D86}"/>
                  </a:ext>
                </a:extLst>
              </p:cNvPr>
              <p:cNvSpPr/>
              <p:nvPr/>
            </p:nvSpPr>
            <p:spPr>
              <a:xfrm>
                <a:off x="1664620" y="6243161"/>
                <a:ext cx="907499" cy="1120628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81EEDF8-DBBF-3551-8C30-FF0498DE35D1}"/>
                  </a:ext>
                </a:extLst>
              </p:cNvPr>
              <p:cNvSpPr txBox="1"/>
              <p:nvPr/>
            </p:nvSpPr>
            <p:spPr>
              <a:xfrm>
                <a:off x="1466321" y="5856098"/>
                <a:ext cx="12732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150019">
                  <a:spcBef>
                    <a:spcPct val="0"/>
                  </a:spcBef>
                </a:pPr>
                <a:r>
                  <a:rPr lang="en-US" sz="1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Synchronized</a:t>
                </a:r>
              </a:p>
              <a:p>
                <a:pPr algn="ctr" defTabSz="150019">
                  <a:spcBef>
                    <a:spcPct val="0"/>
                  </a:spcBef>
                </a:pPr>
                <a:r>
                  <a:rPr lang="en-US" sz="1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Acquisition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8F94338-D7F7-2746-451B-13D70868C07B}"/>
                </a:ext>
              </a:extLst>
            </p:cNvPr>
            <p:cNvGrpSpPr/>
            <p:nvPr/>
          </p:nvGrpSpPr>
          <p:grpSpPr>
            <a:xfrm>
              <a:off x="5591186" y="728228"/>
              <a:ext cx="1273276" cy="1511629"/>
              <a:chOff x="2212315" y="5852160"/>
              <a:chExt cx="1273276" cy="1511629"/>
            </a:xfrm>
          </p:grpSpPr>
          <p:sp>
            <p:nvSpPr>
              <p:cNvPr id="28" name="Rectangle: Rounded Corners 144">
                <a:extLst>
                  <a:ext uri="{FF2B5EF4-FFF2-40B4-BE49-F238E27FC236}">
                    <a16:creationId xmlns:a16="http://schemas.microsoft.com/office/drawing/2014/main" id="{CE174B0A-9DFE-DD1A-C8B1-AA674E46C10C}"/>
                  </a:ext>
                </a:extLst>
              </p:cNvPr>
              <p:cNvSpPr/>
              <p:nvPr/>
            </p:nvSpPr>
            <p:spPr>
              <a:xfrm>
                <a:off x="2556721" y="6243161"/>
                <a:ext cx="555926" cy="1120628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329458-0EAA-4F36-382B-872518887CB2}"/>
                  </a:ext>
                </a:extLst>
              </p:cNvPr>
              <p:cNvSpPr txBox="1"/>
              <p:nvPr/>
            </p:nvSpPr>
            <p:spPr>
              <a:xfrm>
                <a:off x="2212315" y="5852160"/>
                <a:ext cx="12732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150019">
                  <a:spcBef>
                    <a:spcPct val="0"/>
                  </a:spcBef>
                </a:pPr>
                <a:r>
                  <a:rPr lang="en-US" sz="1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Offline</a:t>
                </a:r>
              </a:p>
              <a:p>
                <a:pPr algn="ctr" defTabSz="150019">
                  <a:spcBef>
                    <a:spcPct val="0"/>
                  </a:spcBef>
                </a:pPr>
                <a:r>
                  <a:rPr lang="en-US" sz="1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Analysis</a:t>
                </a:r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A490762-91E8-48B8-6679-F96932D85B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6084" y="1811305"/>
              <a:ext cx="4008" cy="19758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713F3F-BA31-1805-6A61-BA9AE7C71A7E}"/>
                </a:ext>
              </a:extLst>
            </p:cNvPr>
            <p:cNvSpPr txBox="1"/>
            <p:nvPr/>
          </p:nvSpPr>
          <p:spPr>
            <a:xfrm>
              <a:off x="5458357" y="1987721"/>
              <a:ext cx="4203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TTL</a:t>
              </a:r>
            </a:p>
          </p:txBody>
        </p:sp>
        <p:pic>
          <p:nvPicPr>
            <p:cNvPr id="25" name="Graphic 24" descr="Volume outline">
              <a:extLst>
                <a:ext uri="{FF2B5EF4-FFF2-40B4-BE49-F238E27FC236}">
                  <a16:creationId xmlns:a16="http://schemas.microsoft.com/office/drawing/2014/main" id="{193E1A6C-644D-9F44-238C-383B0576C8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4073451" y="2005619"/>
              <a:ext cx="182880" cy="182880"/>
            </a:xfrm>
            <a:prstGeom prst="rect">
              <a:avLst/>
            </a:prstGeom>
          </p:spPr>
        </p:pic>
        <p:cxnSp>
          <p:nvCxnSpPr>
            <p:cNvPr id="26" name="Connector: Elbow 198">
              <a:extLst>
                <a:ext uri="{FF2B5EF4-FFF2-40B4-BE49-F238E27FC236}">
                  <a16:creationId xmlns:a16="http://schemas.microsoft.com/office/drawing/2014/main" id="{D645CA09-8A15-60D3-5684-74AB5C241E2E}"/>
                </a:ext>
              </a:extLst>
            </p:cNvPr>
            <p:cNvCxnSpPr>
              <a:cxnSpLocks/>
              <a:stCxn id="19" idx="2"/>
              <a:endCxn id="25" idx="1"/>
            </p:cNvCxnSpPr>
            <p:nvPr/>
          </p:nvCxnSpPr>
          <p:spPr>
            <a:xfrm rot="5400000">
              <a:off x="4694621" y="1366635"/>
              <a:ext cx="292135" cy="1168713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F03FE6-FAD9-5059-C615-2AC839D4D82A}"/>
                </a:ext>
              </a:extLst>
            </p:cNvPr>
            <p:cNvSpPr txBox="1"/>
            <p:nvPr/>
          </p:nvSpPr>
          <p:spPr>
            <a:xfrm>
              <a:off x="4210384" y="2057274"/>
              <a:ext cx="73930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1560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Noise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E8198A-6C7C-805E-EC53-C6F1DE27FEDD}"/>
              </a:ext>
            </a:extLst>
          </p:cNvPr>
          <p:cNvCxnSpPr>
            <a:cxnSpLocks/>
          </p:cNvCxnSpPr>
          <p:nvPr/>
        </p:nvCxnSpPr>
        <p:spPr>
          <a:xfrm flipH="1" flipV="1">
            <a:off x="6038151" y="3638234"/>
            <a:ext cx="4008" cy="197583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non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78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21FE-4C9F-891E-0004-F0D5DA3D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list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D6DF5B-1637-BAA2-27AB-7363D21E0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99503"/>
              </p:ext>
            </p:extLst>
          </p:nvPr>
        </p:nvGraphicFramePr>
        <p:xfrm>
          <a:off x="838200" y="1690688"/>
          <a:ext cx="10387264" cy="460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892">
                  <a:extLst>
                    <a:ext uri="{9D8B030D-6E8A-4147-A177-3AD203B41FA5}">
                      <a16:colId xmlns:a16="http://schemas.microsoft.com/office/drawing/2014/main" val="681754255"/>
                    </a:ext>
                  </a:extLst>
                </a:gridCol>
                <a:gridCol w="4549199">
                  <a:extLst>
                    <a:ext uri="{9D8B030D-6E8A-4147-A177-3AD203B41FA5}">
                      <a16:colId xmlns:a16="http://schemas.microsoft.com/office/drawing/2014/main" val="80095148"/>
                    </a:ext>
                  </a:extLst>
                </a:gridCol>
                <a:gridCol w="1926600">
                  <a:extLst>
                    <a:ext uri="{9D8B030D-6E8A-4147-A177-3AD203B41FA5}">
                      <a16:colId xmlns:a16="http://schemas.microsoft.com/office/drawing/2014/main" val="1450515346"/>
                    </a:ext>
                  </a:extLst>
                </a:gridCol>
                <a:gridCol w="1241962">
                  <a:extLst>
                    <a:ext uri="{9D8B030D-6E8A-4147-A177-3AD203B41FA5}">
                      <a16:colId xmlns:a16="http://schemas.microsoft.com/office/drawing/2014/main" val="3991782316"/>
                    </a:ext>
                  </a:extLst>
                </a:gridCol>
                <a:gridCol w="551611">
                  <a:extLst>
                    <a:ext uri="{9D8B030D-6E8A-4147-A177-3AD203B41FA5}">
                      <a16:colId xmlns:a16="http://schemas.microsoft.com/office/drawing/2014/main" val="3844156121"/>
                    </a:ext>
                  </a:extLst>
                </a:gridCol>
              </a:tblGrid>
              <a:tr h="426288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 Description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7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Catalog #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Price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2838621"/>
                  </a:ext>
                </a:extLst>
              </a:tr>
              <a:tr h="426288">
                <a:tc rowSpan="4">
                  <a:txBody>
                    <a:bodyPr/>
                    <a:lstStyle/>
                    <a:p>
                      <a:pPr marL="0" marR="0" lvl="0" indent="0" algn="ctr" defTabSz="6857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 (</a:t>
                      </a:r>
                      <a:r>
                        <a:rPr lang="en-US" sz="1400" b="1" kern="1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canalplastic</a:t>
                      </a: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 Opaque Acrylic Sheet: 5.5 x 5 x 1/8” (stage)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$3.60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3446761487"/>
                  </a:ext>
                </a:extLst>
              </a:tr>
              <a:tr h="426288">
                <a:tc v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 Opaque Acrylic Sheet: 22 x 5 x 1/8” (divider)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$7.20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2369918498"/>
                  </a:ext>
                </a:extLst>
              </a:tr>
              <a:tr h="426288">
                <a:tc v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 Opaque Acrylic Sheet: 24 x 10 x 1/4” (base)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$24.00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2045299599"/>
                  </a:ext>
                </a:extLst>
              </a:tr>
              <a:tr h="426288">
                <a:tc v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 Opaque Acrylic Sheet: 24 x 22 x 1/4” (back)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$48.00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1193081974"/>
                  </a:ext>
                </a:extLst>
              </a:tr>
              <a:tr h="4595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holder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(Amazon)</a:t>
                      </a:r>
                      <a:endParaRPr lang="en-US" sz="14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16U Vertical Server Rack Rail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$27.98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3708184888"/>
                  </a:ext>
                </a:extLst>
              </a:tr>
              <a:tr h="426288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1" kern="1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sparkfun</a:t>
                      </a: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 Load Cell - 100g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14727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$9.95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3946419615"/>
                  </a:ext>
                </a:extLst>
              </a:tr>
              <a:tr h="426288">
                <a:tc v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Cell Amplifier - HX711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13879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$10.95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3847320669"/>
                  </a:ext>
                </a:extLst>
              </a:tr>
              <a:tr h="426288">
                <a:tc v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Uno R3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DEV-11021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$27.60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2986683625"/>
                  </a:ext>
                </a:extLst>
              </a:tr>
              <a:tr h="42628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parts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(self-printed)</a:t>
                      </a:r>
                      <a:endParaRPr lang="en-US" sz="14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cell holder: base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3994617138"/>
                  </a:ext>
                </a:extLst>
              </a:tr>
              <a:tr h="293663">
                <a:tc v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cell holder: top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4572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 anchor="ctr"/>
                </a:tc>
                <a:extLst>
                  <a:ext uri="{0D108BD9-81ED-4DB2-BD59-A6C34878D82A}">
                    <a16:rowId xmlns:a16="http://schemas.microsoft.com/office/drawing/2014/main" val="67682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5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E35F-4572-F42E-A0BF-333177AB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iMOSS</a:t>
            </a:r>
            <a:r>
              <a:rPr lang="en-US" dirty="0"/>
              <a:t>-AS hardware module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0DB602-6A93-4473-AB92-0D910325A246}"/>
              </a:ext>
            </a:extLst>
          </p:cNvPr>
          <p:cNvGrpSpPr/>
          <p:nvPr/>
        </p:nvGrpSpPr>
        <p:grpSpPr>
          <a:xfrm>
            <a:off x="4114822" y="1930419"/>
            <a:ext cx="3962356" cy="2943632"/>
            <a:chOff x="672398" y="1912324"/>
            <a:chExt cx="3962356" cy="29436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AEABD3-2192-04AD-D567-8D02E59C46E9}"/>
                </a:ext>
              </a:extLst>
            </p:cNvPr>
            <p:cNvSpPr/>
            <p:nvPr/>
          </p:nvSpPr>
          <p:spPr>
            <a:xfrm>
              <a:off x="3657604" y="1932710"/>
              <a:ext cx="977150" cy="2923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45720" rtlCol="0" anchor="ctr"/>
            <a:lstStyle/>
            <a:p>
              <a:pPr algn="ctr"/>
              <a:r>
                <a:rPr lang="en-US" sz="1200" dirty="0"/>
                <a:t>Arduino</a:t>
              </a:r>
            </a:p>
            <a:p>
              <a:pPr algn="ctr"/>
              <a:r>
                <a:rPr lang="en-US" sz="1200" dirty="0"/>
                <a:t>Uno</a:t>
              </a:r>
            </a:p>
            <a:p>
              <a:pPr algn="ctr"/>
              <a:r>
                <a:rPr lang="en-US" sz="1200" dirty="0"/>
                <a:t>R3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91EA507-AA36-4377-9CCF-6CC8A33A58E2}"/>
                </a:ext>
              </a:extLst>
            </p:cNvPr>
            <p:cNvGrpSpPr/>
            <p:nvPr/>
          </p:nvGrpSpPr>
          <p:grpSpPr>
            <a:xfrm>
              <a:off x="672398" y="4172183"/>
              <a:ext cx="3303193" cy="683773"/>
              <a:chOff x="618065" y="1915990"/>
              <a:chExt cx="3303193" cy="683773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89B65C05-2E11-4964-7135-B43C769D9ED8}"/>
                  </a:ext>
                </a:extLst>
              </p:cNvPr>
              <p:cNvSpPr/>
              <p:nvPr/>
            </p:nvSpPr>
            <p:spPr>
              <a:xfrm>
                <a:off x="1632121" y="1936377"/>
                <a:ext cx="1660810" cy="66338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F8F24B3D-E2FE-7018-0913-1E27F19B8F76}"/>
                  </a:ext>
                </a:extLst>
              </p:cNvPr>
              <p:cNvGrpSpPr/>
              <p:nvPr/>
            </p:nvGrpSpPr>
            <p:grpSpPr>
              <a:xfrm>
                <a:off x="618065" y="2019297"/>
                <a:ext cx="1296592" cy="347385"/>
                <a:chOff x="379174" y="4120007"/>
                <a:chExt cx="1296592" cy="484203"/>
              </a:xfrm>
            </p:grpSpPr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CF24AC44-AF90-B0ED-3A83-ED5A8A87D2AA}"/>
                    </a:ext>
                  </a:extLst>
                </p:cNvPr>
                <p:cNvSpPr/>
                <p:nvPr/>
              </p:nvSpPr>
              <p:spPr>
                <a:xfrm>
                  <a:off x="379174" y="4120007"/>
                  <a:ext cx="1296592" cy="484203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13DBA8F-9A72-67B1-740D-EF4B8D534323}"/>
                    </a:ext>
                  </a:extLst>
                </p:cNvPr>
                <p:cNvGrpSpPr/>
                <p:nvPr/>
              </p:nvGrpSpPr>
              <p:grpSpPr>
                <a:xfrm>
                  <a:off x="550202" y="4214264"/>
                  <a:ext cx="954537" cy="294141"/>
                  <a:chOff x="598720" y="4214264"/>
                  <a:chExt cx="954537" cy="294141"/>
                </a:xfrm>
              </p:grpSpPr>
              <p:sp>
                <p:nvSpPr>
                  <p:cNvPr id="144" name="Oval 143">
                    <a:extLst>
                      <a:ext uri="{FF2B5EF4-FFF2-40B4-BE49-F238E27FC236}">
                        <a16:creationId xmlns:a16="http://schemas.microsoft.com/office/drawing/2014/main" id="{7D6930B1-E8FC-7DB6-914D-C56DE22B4CF0}"/>
                      </a:ext>
                    </a:extLst>
                  </p:cNvPr>
                  <p:cNvSpPr/>
                  <p:nvPr/>
                </p:nvSpPr>
                <p:spPr>
                  <a:xfrm>
                    <a:off x="598720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E05B476D-606E-9375-E112-D99AC9EC89BF}"/>
                      </a:ext>
                    </a:extLst>
                  </p:cNvPr>
                  <p:cNvSpPr/>
                  <p:nvPr/>
                </p:nvSpPr>
                <p:spPr>
                  <a:xfrm>
                    <a:off x="1259116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68E3EC4D-90DD-1F17-7CAE-C9CC538B1599}"/>
                      </a:ext>
                    </a:extLst>
                  </p:cNvPr>
                  <p:cNvSpPr/>
                  <p:nvPr/>
                </p:nvSpPr>
                <p:spPr>
                  <a:xfrm>
                    <a:off x="710228" y="4269894"/>
                    <a:ext cx="731520" cy="18288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000" dirty="0">
                        <a:solidFill>
                          <a:schemeClr val="tx1"/>
                        </a:solidFill>
                      </a:rPr>
                      <a:t>Load Cell</a:t>
                    </a:r>
                  </a:p>
                </p:txBody>
              </p:sp>
            </p:grpSp>
          </p:grp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96F00A07-4477-F143-5903-5AA4B82759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019297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8546AC6-6DF2-612B-076B-2C3D1F641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135092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648645D-94F6-031D-F960-FE29EED0D9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250887"/>
                <a:ext cx="36237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C7186104-94DC-4EB7-7141-2C9DF1C49D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366682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79ACD533-87EA-023F-036B-DF8411199E0B}"/>
                  </a:ext>
                </a:extLst>
              </p:cNvPr>
              <p:cNvSpPr/>
              <p:nvPr/>
            </p:nvSpPr>
            <p:spPr>
              <a:xfrm>
                <a:off x="2223242" y="1956542"/>
                <a:ext cx="1044388" cy="62529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Load</a:t>
                </a:r>
              </a:p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Cell</a:t>
                </a:r>
                <a:br>
                  <a:rPr lang="en-US" sz="1200" dirty="0">
                    <a:solidFill>
                      <a:schemeClr val="bg1"/>
                    </a:solidFill>
                  </a:rPr>
                </a:br>
                <a:r>
                  <a:rPr lang="en-US" sz="1200" dirty="0">
                    <a:solidFill>
                      <a:schemeClr val="bg1"/>
                    </a:solidFill>
                  </a:rPr>
                  <a:t>AMP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DCCBCF4-5A46-44C4-6A40-B66F0FE8E3B6}"/>
                  </a:ext>
                </a:extLst>
              </p:cNvPr>
              <p:cNvSpPr txBox="1"/>
              <p:nvPr/>
            </p:nvSpPr>
            <p:spPr>
              <a:xfrm>
                <a:off x="2157606" y="1915990"/>
                <a:ext cx="34817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RED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3850098-6BE0-9A31-6776-92B2AEA6BEB2}"/>
                  </a:ext>
                </a:extLst>
              </p:cNvPr>
              <p:cNvSpPr txBox="1"/>
              <p:nvPr/>
            </p:nvSpPr>
            <p:spPr>
              <a:xfrm>
                <a:off x="2157606" y="2032781"/>
                <a:ext cx="34657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BLK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D9D339-458D-A5FA-8006-6F9F331E3EC9}"/>
                  </a:ext>
                </a:extLst>
              </p:cNvPr>
              <p:cNvSpPr txBox="1"/>
              <p:nvPr/>
            </p:nvSpPr>
            <p:spPr>
              <a:xfrm>
                <a:off x="2157606" y="2149572"/>
                <a:ext cx="37221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WHT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D720805-C55E-6851-606E-F7838ABACF40}"/>
                  </a:ext>
                </a:extLst>
              </p:cNvPr>
              <p:cNvSpPr txBox="1"/>
              <p:nvPr/>
            </p:nvSpPr>
            <p:spPr>
              <a:xfrm>
                <a:off x="2157606" y="2266363"/>
                <a:ext cx="35618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GRN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D3ECA68-CE19-54B3-8832-D18BEE7B60F0}"/>
                  </a:ext>
                </a:extLst>
              </p:cNvPr>
              <p:cNvSpPr txBox="1"/>
              <p:nvPr/>
            </p:nvSpPr>
            <p:spPr>
              <a:xfrm>
                <a:off x="2157606" y="2383156"/>
                <a:ext cx="3690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YLW</a:t>
                </a: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DDB67BAE-6C35-6E7C-05DB-7132FED601A1}"/>
                  </a:ext>
                </a:extLst>
              </p:cNvPr>
              <p:cNvGrpSpPr/>
              <p:nvPr/>
            </p:nvGrpSpPr>
            <p:grpSpPr>
              <a:xfrm>
                <a:off x="3000291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E5651920-68EB-5639-64B0-985E840CB1A8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VDD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70B4387E-9E92-250C-068D-AA9949D1E1F8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VCC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F4A22555-AF99-DF4C-F1FA-9FBBA8572645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4817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DAT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5D3AC53D-9059-570D-1FC2-DE297B1C7A0E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5137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CLK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D28E51B1-B5B8-DC3D-7604-C38D0BADC8D2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B33C6C3-BC9C-08E0-6536-312A28609D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01033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41D266A-856C-1953-3473-E9186ED34A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13509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2683D809-C031-990E-D7CC-94072C6FB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250887"/>
                <a:ext cx="362378" cy="0"/>
              </a:xfrm>
              <a:prstGeom prst="line">
                <a:avLst/>
              </a:prstGeom>
              <a:ln w="254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2D271483-BE05-DDA8-54B5-345916B5B6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375647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44838714-EE29-87F2-D95B-90E802C7D1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484449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8CA9E5FF-09FA-B8B9-BA19-0ADFCB809829}"/>
                  </a:ext>
                </a:extLst>
              </p:cNvPr>
              <p:cNvGrpSpPr/>
              <p:nvPr/>
            </p:nvGrpSpPr>
            <p:grpSpPr>
              <a:xfrm>
                <a:off x="3565070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FEB960F6-8D8F-3B02-E66A-95B40284C7CD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CBE4CD97-CFDB-6137-3FC3-6D3ED18CE308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7AD78843-E191-400A-5C42-90B01D262123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Pin8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FA3D03D-F316-AAAB-0FCA-DE88AE978F7F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Pin9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489077B2-3924-29C3-18C1-792321C28CA7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E41ADBB-AB4B-55C2-7A24-592DFB5272BA}"/>
                </a:ext>
              </a:extLst>
            </p:cNvPr>
            <p:cNvGrpSpPr/>
            <p:nvPr/>
          </p:nvGrpSpPr>
          <p:grpSpPr>
            <a:xfrm>
              <a:off x="672398" y="3418896"/>
              <a:ext cx="3303193" cy="683773"/>
              <a:chOff x="618065" y="1915990"/>
              <a:chExt cx="3303193" cy="683773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BC48027-317C-56FE-7BF1-BA3D1DB19D30}"/>
                  </a:ext>
                </a:extLst>
              </p:cNvPr>
              <p:cNvSpPr/>
              <p:nvPr/>
            </p:nvSpPr>
            <p:spPr>
              <a:xfrm>
                <a:off x="1632121" y="1936377"/>
                <a:ext cx="1660810" cy="66338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ED1BC1A-BA2A-5DBB-8732-F5E2AFC95723}"/>
                  </a:ext>
                </a:extLst>
              </p:cNvPr>
              <p:cNvGrpSpPr/>
              <p:nvPr/>
            </p:nvGrpSpPr>
            <p:grpSpPr>
              <a:xfrm>
                <a:off x="618065" y="2019297"/>
                <a:ext cx="1296592" cy="347385"/>
                <a:chOff x="379174" y="4120007"/>
                <a:chExt cx="1296592" cy="484203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B5B2955A-CDFE-B02E-4434-72798452C5AD}"/>
                    </a:ext>
                  </a:extLst>
                </p:cNvPr>
                <p:cNvSpPr/>
                <p:nvPr/>
              </p:nvSpPr>
              <p:spPr>
                <a:xfrm>
                  <a:off x="379174" y="4120007"/>
                  <a:ext cx="1296592" cy="484203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0D5CB86A-BD14-88F0-C07D-55AA87AC2EB2}"/>
                    </a:ext>
                  </a:extLst>
                </p:cNvPr>
                <p:cNvGrpSpPr/>
                <p:nvPr/>
              </p:nvGrpSpPr>
              <p:grpSpPr>
                <a:xfrm>
                  <a:off x="550202" y="4214264"/>
                  <a:ext cx="954537" cy="294141"/>
                  <a:chOff x="598720" y="4214264"/>
                  <a:chExt cx="954537" cy="294141"/>
                </a:xfrm>
              </p:grpSpPr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5770F250-812B-81AA-5589-8A821B7FDB26}"/>
                      </a:ext>
                    </a:extLst>
                  </p:cNvPr>
                  <p:cNvSpPr/>
                  <p:nvPr/>
                </p:nvSpPr>
                <p:spPr>
                  <a:xfrm>
                    <a:off x="598720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FCCA96E6-889C-9894-BBDD-6EE4FD2525B2}"/>
                      </a:ext>
                    </a:extLst>
                  </p:cNvPr>
                  <p:cNvSpPr/>
                  <p:nvPr/>
                </p:nvSpPr>
                <p:spPr>
                  <a:xfrm>
                    <a:off x="1259116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" name="Rectangle 111">
                    <a:extLst>
                      <a:ext uri="{FF2B5EF4-FFF2-40B4-BE49-F238E27FC236}">
                        <a16:creationId xmlns:a16="http://schemas.microsoft.com/office/drawing/2014/main" id="{8BDDBA44-FDD9-E8AF-9097-9DB742926AE9}"/>
                      </a:ext>
                    </a:extLst>
                  </p:cNvPr>
                  <p:cNvSpPr/>
                  <p:nvPr/>
                </p:nvSpPr>
                <p:spPr>
                  <a:xfrm>
                    <a:off x="710228" y="4269894"/>
                    <a:ext cx="731520" cy="18288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000" dirty="0">
                        <a:solidFill>
                          <a:schemeClr val="tx1"/>
                        </a:solidFill>
                      </a:rPr>
                      <a:t>Load Cell</a:t>
                    </a:r>
                  </a:p>
                </p:txBody>
              </p:sp>
            </p:grpSp>
          </p:grp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3C7627CD-6BF5-3916-F9AE-828974C4F6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019297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B2CEB8FE-D045-9CFF-B642-91DE508A7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135092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FB58992-D081-F7C2-EB9B-0E18D9ED28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250887"/>
                <a:ext cx="36237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FF5E70C-CE75-6002-40A2-C76159D65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366682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41D0DB9-B068-C865-607D-7F092B67D48B}"/>
                  </a:ext>
                </a:extLst>
              </p:cNvPr>
              <p:cNvSpPr/>
              <p:nvPr/>
            </p:nvSpPr>
            <p:spPr>
              <a:xfrm>
                <a:off x="2223242" y="1956542"/>
                <a:ext cx="1044388" cy="62529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Load</a:t>
                </a:r>
              </a:p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Cell</a:t>
                </a:r>
                <a:br>
                  <a:rPr lang="en-US" sz="1200" dirty="0">
                    <a:solidFill>
                      <a:schemeClr val="bg1"/>
                    </a:solidFill>
                  </a:rPr>
                </a:br>
                <a:r>
                  <a:rPr lang="en-US" sz="1200" dirty="0">
                    <a:solidFill>
                      <a:schemeClr val="bg1"/>
                    </a:solidFill>
                  </a:rPr>
                  <a:t>AMP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1B1F48D-A429-56B4-A53F-9799BBAE0CFF}"/>
                  </a:ext>
                </a:extLst>
              </p:cNvPr>
              <p:cNvSpPr txBox="1"/>
              <p:nvPr/>
            </p:nvSpPr>
            <p:spPr>
              <a:xfrm>
                <a:off x="2157606" y="1915990"/>
                <a:ext cx="34817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RED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AFED017-846A-5E0F-8037-784074F5F7B3}"/>
                  </a:ext>
                </a:extLst>
              </p:cNvPr>
              <p:cNvSpPr txBox="1"/>
              <p:nvPr/>
            </p:nvSpPr>
            <p:spPr>
              <a:xfrm>
                <a:off x="2157606" y="2032781"/>
                <a:ext cx="34657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BLK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79C4F37-E27B-7C43-23AD-41A5D0A27521}"/>
                  </a:ext>
                </a:extLst>
              </p:cNvPr>
              <p:cNvSpPr txBox="1"/>
              <p:nvPr/>
            </p:nvSpPr>
            <p:spPr>
              <a:xfrm>
                <a:off x="2157606" y="2149572"/>
                <a:ext cx="37221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WHT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E806791-CBBD-86F4-28DC-5FB9990DD56A}"/>
                  </a:ext>
                </a:extLst>
              </p:cNvPr>
              <p:cNvSpPr txBox="1"/>
              <p:nvPr/>
            </p:nvSpPr>
            <p:spPr>
              <a:xfrm>
                <a:off x="2157606" y="2266363"/>
                <a:ext cx="35618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GRN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3C09138-5EC9-7E66-1BE3-2A3E6D10DAFA}"/>
                  </a:ext>
                </a:extLst>
              </p:cNvPr>
              <p:cNvSpPr txBox="1"/>
              <p:nvPr/>
            </p:nvSpPr>
            <p:spPr>
              <a:xfrm>
                <a:off x="2157606" y="2383156"/>
                <a:ext cx="3690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YLW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74B4CED0-7CAA-184C-D1AB-80B637AF1553}"/>
                  </a:ext>
                </a:extLst>
              </p:cNvPr>
              <p:cNvGrpSpPr/>
              <p:nvPr/>
            </p:nvGrpSpPr>
            <p:grpSpPr>
              <a:xfrm>
                <a:off x="3000291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114F6780-D0DD-B1F1-5B67-52D64CB2067C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VDD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B4810D1A-9C8E-4497-A0F4-D4E15D746C83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VCC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6EEECD91-7275-246A-79A6-543281E7980A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4817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DAT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FA6E3C0-6643-CFC0-FF30-8F59171509A2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5137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CLK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359F133B-16CF-665F-FAED-F380994D522A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F20B75B-ED90-D850-0172-108085958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01033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0810FF05-34A4-D7B7-5583-097CC00460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13509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A7731CC3-8463-A3E3-F255-E65D4D498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250887"/>
                <a:ext cx="362378" cy="0"/>
              </a:xfrm>
              <a:prstGeom prst="line">
                <a:avLst/>
              </a:prstGeom>
              <a:ln w="254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AB21D6D2-37D3-6112-3AEA-7EAC4C930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375647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61AC50B3-9461-1F80-66EC-08BB0C4A2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484449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FA367D0E-13E3-BB61-193A-E1E08CBA432A}"/>
                  </a:ext>
                </a:extLst>
              </p:cNvPr>
              <p:cNvGrpSpPr/>
              <p:nvPr/>
            </p:nvGrpSpPr>
            <p:grpSpPr>
              <a:xfrm>
                <a:off x="3565070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A8FAB72-9687-DE2F-370F-A07DF876C613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CD3D51D-2924-2889-CA16-4857C0793C01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614F609-E0CB-2657-27FC-EC1584711A5E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Pin6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C83BEEA-735D-7928-9220-1338657BF7F6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Pin7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D9E1777-3EB8-3905-A924-30803D440643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5A3359F-8AD7-ED07-678A-14E9166FACCE}"/>
                </a:ext>
              </a:extLst>
            </p:cNvPr>
            <p:cNvGrpSpPr/>
            <p:nvPr/>
          </p:nvGrpSpPr>
          <p:grpSpPr>
            <a:xfrm>
              <a:off x="672398" y="1912324"/>
              <a:ext cx="3303193" cy="683773"/>
              <a:chOff x="618065" y="1915990"/>
              <a:chExt cx="3303193" cy="68377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5A3306A-5067-6139-87B5-54A1C30C3082}"/>
                  </a:ext>
                </a:extLst>
              </p:cNvPr>
              <p:cNvSpPr/>
              <p:nvPr/>
            </p:nvSpPr>
            <p:spPr>
              <a:xfrm>
                <a:off x="1632121" y="1936377"/>
                <a:ext cx="1660810" cy="66338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0CF2CF0-F0C8-3E9D-7E09-834AA4D801BC}"/>
                  </a:ext>
                </a:extLst>
              </p:cNvPr>
              <p:cNvGrpSpPr/>
              <p:nvPr/>
            </p:nvGrpSpPr>
            <p:grpSpPr>
              <a:xfrm>
                <a:off x="618065" y="2019297"/>
                <a:ext cx="1296592" cy="347385"/>
                <a:chOff x="379174" y="4120007"/>
                <a:chExt cx="1296592" cy="484203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990178A1-160A-681B-522C-F94BA6D33228}"/>
                    </a:ext>
                  </a:extLst>
                </p:cNvPr>
                <p:cNvSpPr/>
                <p:nvPr/>
              </p:nvSpPr>
              <p:spPr>
                <a:xfrm>
                  <a:off x="379174" y="4120007"/>
                  <a:ext cx="1296592" cy="484203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98F0EB-5867-00BF-025F-338738BEF25B}"/>
                    </a:ext>
                  </a:extLst>
                </p:cNvPr>
                <p:cNvGrpSpPr/>
                <p:nvPr/>
              </p:nvGrpSpPr>
              <p:grpSpPr>
                <a:xfrm>
                  <a:off x="550202" y="4214264"/>
                  <a:ext cx="954537" cy="294141"/>
                  <a:chOff x="598720" y="4214264"/>
                  <a:chExt cx="954537" cy="294141"/>
                </a:xfrm>
              </p:grpSpPr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022A53A7-BAB3-37B4-99EA-93C5F03CF6B6}"/>
                      </a:ext>
                    </a:extLst>
                  </p:cNvPr>
                  <p:cNvSpPr/>
                  <p:nvPr/>
                </p:nvSpPr>
                <p:spPr>
                  <a:xfrm>
                    <a:off x="598720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" name="Oval 76">
                    <a:extLst>
                      <a:ext uri="{FF2B5EF4-FFF2-40B4-BE49-F238E27FC236}">
                        <a16:creationId xmlns:a16="http://schemas.microsoft.com/office/drawing/2014/main" id="{47B65E74-048A-BE3F-48AD-E17B04FE4EE3}"/>
                      </a:ext>
                    </a:extLst>
                  </p:cNvPr>
                  <p:cNvSpPr/>
                  <p:nvPr/>
                </p:nvSpPr>
                <p:spPr>
                  <a:xfrm>
                    <a:off x="1259116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FE21A70F-E645-22A9-38D6-F918C02378A5}"/>
                      </a:ext>
                    </a:extLst>
                  </p:cNvPr>
                  <p:cNvSpPr/>
                  <p:nvPr/>
                </p:nvSpPr>
                <p:spPr>
                  <a:xfrm>
                    <a:off x="710228" y="4269894"/>
                    <a:ext cx="731520" cy="18288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000" dirty="0">
                        <a:solidFill>
                          <a:schemeClr val="tx1"/>
                        </a:solidFill>
                      </a:rPr>
                      <a:t>Load Cell</a:t>
                    </a:r>
                  </a:p>
                </p:txBody>
              </p:sp>
            </p:grp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288A921-F432-E46F-1315-9FADD1A26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019297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45832A3-3353-9496-98CF-D0234BEA3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135092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9DF739B-F562-3931-77E6-9DE67CA0D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250887"/>
                <a:ext cx="36237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54FE057E-6F68-A8A6-C4ED-962109240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366682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9CDF3AE-A1EC-528B-C0A5-341F1C7A7582}"/>
                  </a:ext>
                </a:extLst>
              </p:cNvPr>
              <p:cNvSpPr/>
              <p:nvPr/>
            </p:nvSpPr>
            <p:spPr>
              <a:xfrm>
                <a:off x="2223242" y="1956542"/>
                <a:ext cx="1044388" cy="62529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Load</a:t>
                </a:r>
              </a:p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Cell</a:t>
                </a:r>
                <a:br>
                  <a:rPr lang="en-US" sz="1200" dirty="0">
                    <a:solidFill>
                      <a:schemeClr val="bg1"/>
                    </a:solidFill>
                  </a:rPr>
                </a:br>
                <a:r>
                  <a:rPr lang="en-US" sz="1200" dirty="0">
                    <a:solidFill>
                      <a:schemeClr val="bg1"/>
                    </a:solidFill>
                  </a:rPr>
                  <a:t>AMP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968D017-B826-AF8C-14BF-317B6CF7EE35}"/>
                  </a:ext>
                </a:extLst>
              </p:cNvPr>
              <p:cNvSpPr txBox="1"/>
              <p:nvPr/>
            </p:nvSpPr>
            <p:spPr>
              <a:xfrm>
                <a:off x="2157606" y="1915990"/>
                <a:ext cx="34817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RED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4D3513C-A9BD-ED42-91E1-DAEC8903BA55}"/>
                  </a:ext>
                </a:extLst>
              </p:cNvPr>
              <p:cNvSpPr txBox="1"/>
              <p:nvPr/>
            </p:nvSpPr>
            <p:spPr>
              <a:xfrm>
                <a:off x="2157606" y="2032781"/>
                <a:ext cx="34657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BLK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2E2A38-8EF9-3104-2459-EFB9F4A26772}"/>
                  </a:ext>
                </a:extLst>
              </p:cNvPr>
              <p:cNvSpPr txBox="1"/>
              <p:nvPr/>
            </p:nvSpPr>
            <p:spPr>
              <a:xfrm>
                <a:off x="2157606" y="2149572"/>
                <a:ext cx="37221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WHT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5DD54B-7C77-E90F-83AF-5638C0588488}"/>
                  </a:ext>
                </a:extLst>
              </p:cNvPr>
              <p:cNvSpPr txBox="1"/>
              <p:nvPr/>
            </p:nvSpPr>
            <p:spPr>
              <a:xfrm>
                <a:off x="2157606" y="2266363"/>
                <a:ext cx="35618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GRN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45D5AA1-7015-80DB-5232-2FBA35E8F8E3}"/>
                  </a:ext>
                </a:extLst>
              </p:cNvPr>
              <p:cNvSpPr txBox="1"/>
              <p:nvPr/>
            </p:nvSpPr>
            <p:spPr>
              <a:xfrm>
                <a:off x="2157606" y="2383156"/>
                <a:ext cx="3690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YLW</a:t>
                </a: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35A3B5D-CFBF-F945-7D7F-A7B7C972291A}"/>
                  </a:ext>
                </a:extLst>
              </p:cNvPr>
              <p:cNvGrpSpPr/>
              <p:nvPr/>
            </p:nvGrpSpPr>
            <p:grpSpPr>
              <a:xfrm>
                <a:off x="3000291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1CD2D57-D316-7F8C-B1F5-9DB42596DBFA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VDD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9A7FB61-983A-AE0B-996A-8B283FB43204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VCC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DCAB616-8384-781C-D461-741C7334518E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4817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DAT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6C388A7-883C-B4F6-6F7D-C7061E1B04A1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5137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CLK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65DD89EC-E60E-A126-04E9-D9EBB332D301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A396F5E-A09D-0834-04C9-519295EA5A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01033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9490086-A374-E3BE-FAA6-A5AD7EE6D2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13509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0C02426-28D0-C3DB-EEC2-886EE9C04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250887"/>
                <a:ext cx="362378" cy="0"/>
              </a:xfrm>
              <a:prstGeom prst="line">
                <a:avLst/>
              </a:prstGeom>
              <a:ln w="254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FAC07A7-3D45-009A-C539-A524AE3D3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375647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E757601-9328-9914-293C-E6F25DFEC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484449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4164ADA2-F3D4-5473-41C3-73D45860D502}"/>
                  </a:ext>
                </a:extLst>
              </p:cNvPr>
              <p:cNvGrpSpPr/>
              <p:nvPr/>
            </p:nvGrpSpPr>
            <p:grpSpPr>
              <a:xfrm>
                <a:off x="3565070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70E1416-1ACB-75E5-7195-4CA62C0569F8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AD9E733-56C0-06A1-DEC9-1177A28D6773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DFA38AF-23AE-910F-5C70-B61177E6B90B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Pin2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6079FF8-9686-1295-AB8A-D76F66879E3E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Pin3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952C3F2-DEE0-BA4B-9B65-AAB332365C61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B285F1E-F997-A192-B3FF-9E3E30AD1CD4}"/>
                </a:ext>
              </a:extLst>
            </p:cNvPr>
            <p:cNvGrpSpPr/>
            <p:nvPr/>
          </p:nvGrpSpPr>
          <p:grpSpPr>
            <a:xfrm>
              <a:off x="672398" y="2665610"/>
              <a:ext cx="3303193" cy="683773"/>
              <a:chOff x="618065" y="1915990"/>
              <a:chExt cx="3303193" cy="68377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AE7B605-E56C-1DDF-5CB3-7EAB595A5091}"/>
                  </a:ext>
                </a:extLst>
              </p:cNvPr>
              <p:cNvSpPr/>
              <p:nvPr/>
            </p:nvSpPr>
            <p:spPr>
              <a:xfrm>
                <a:off x="1632121" y="1936377"/>
                <a:ext cx="1660810" cy="66338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FBDB8FD-B2E8-8D04-2D67-74CA34E31425}"/>
                  </a:ext>
                </a:extLst>
              </p:cNvPr>
              <p:cNvGrpSpPr/>
              <p:nvPr/>
            </p:nvGrpSpPr>
            <p:grpSpPr>
              <a:xfrm>
                <a:off x="618065" y="2019297"/>
                <a:ext cx="1296592" cy="347385"/>
                <a:chOff x="379174" y="4120007"/>
                <a:chExt cx="1296592" cy="484203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BFAC992-A778-99A9-5C86-C66115906B42}"/>
                    </a:ext>
                  </a:extLst>
                </p:cNvPr>
                <p:cNvSpPr/>
                <p:nvPr/>
              </p:nvSpPr>
              <p:spPr>
                <a:xfrm>
                  <a:off x="379174" y="4120007"/>
                  <a:ext cx="1296592" cy="484203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9EA4BF1D-68D5-8F40-EFF7-790A4E8FAC4D}"/>
                    </a:ext>
                  </a:extLst>
                </p:cNvPr>
                <p:cNvGrpSpPr/>
                <p:nvPr/>
              </p:nvGrpSpPr>
              <p:grpSpPr>
                <a:xfrm>
                  <a:off x="550202" y="4214264"/>
                  <a:ext cx="954537" cy="294141"/>
                  <a:chOff x="598720" y="4214264"/>
                  <a:chExt cx="954537" cy="294141"/>
                </a:xfrm>
              </p:grpSpPr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BE8FD944-49F1-1F73-00D1-5A5859B0D8A8}"/>
                      </a:ext>
                    </a:extLst>
                  </p:cNvPr>
                  <p:cNvSpPr/>
                  <p:nvPr/>
                </p:nvSpPr>
                <p:spPr>
                  <a:xfrm>
                    <a:off x="598720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48D07C07-7C38-4DBC-A644-D041A7339639}"/>
                      </a:ext>
                    </a:extLst>
                  </p:cNvPr>
                  <p:cNvSpPr/>
                  <p:nvPr/>
                </p:nvSpPr>
                <p:spPr>
                  <a:xfrm>
                    <a:off x="1259116" y="4214264"/>
                    <a:ext cx="294141" cy="29414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0050B9FC-A55E-7543-B1D9-0BE1657C00AE}"/>
                      </a:ext>
                    </a:extLst>
                  </p:cNvPr>
                  <p:cNvSpPr/>
                  <p:nvPr/>
                </p:nvSpPr>
                <p:spPr>
                  <a:xfrm>
                    <a:off x="710228" y="4269894"/>
                    <a:ext cx="731520" cy="18288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000" dirty="0">
                        <a:solidFill>
                          <a:schemeClr val="tx1"/>
                        </a:solidFill>
                      </a:rPr>
                      <a:t>Load Cell</a:t>
                    </a:r>
                  </a:p>
                </p:txBody>
              </p:sp>
            </p:grp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719275E-CB2B-7093-0B9C-4F0DC6E3A4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019297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1C63017-B4BE-E433-51FE-00160755F6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135092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A8C0E6A-3A38-36BB-2616-FD77B1AF15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250887"/>
                <a:ext cx="36237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0C2D9DD-F52C-A0B5-ECED-9369EC43B4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4657" y="2366682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E67B40C-DD52-F280-AB78-2ED5720984C7}"/>
                  </a:ext>
                </a:extLst>
              </p:cNvPr>
              <p:cNvSpPr/>
              <p:nvPr/>
            </p:nvSpPr>
            <p:spPr>
              <a:xfrm>
                <a:off x="2223242" y="1956542"/>
                <a:ext cx="1044388" cy="62529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Load</a:t>
                </a:r>
              </a:p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Cell</a:t>
                </a:r>
                <a:br>
                  <a:rPr lang="en-US" sz="1200" dirty="0">
                    <a:solidFill>
                      <a:schemeClr val="bg1"/>
                    </a:solidFill>
                  </a:rPr>
                </a:br>
                <a:r>
                  <a:rPr lang="en-US" sz="1200" dirty="0">
                    <a:solidFill>
                      <a:schemeClr val="bg1"/>
                    </a:solidFill>
                  </a:rPr>
                  <a:t>AMP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4CCAB6D-5962-900C-3131-331C1DB64BD8}"/>
                  </a:ext>
                </a:extLst>
              </p:cNvPr>
              <p:cNvSpPr txBox="1"/>
              <p:nvPr/>
            </p:nvSpPr>
            <p:spPr>
              <a:xfrm>
                <a:off x="2157606" y="1915990"/>
                <a:ext cx="34817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RED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44AF0A-9F9D-853B-C74B-6BF21F95C348}"/>
                  </a:ext>
                </a:extLst>
              </p:cNvPr>
              <p:cNvSpPr txBox="1"/>
              <p:nvPr/>
            </p:nvSpPr>
            <p:spPr>
              <a:xfrm>
                <a:off x="2157606" y="2032781"/>
                <a:ext cx="34657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BLK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B54912-BBCE-561E-2413-6CA8CEB45775}"/>
                  </a:ext>
                </a:extLst>
              </p:cNvPr>
              <p:cNvSpPr txBox="1"/>
              <p:nvPr/>
            </p:nvSpPr>
            <p:spPr>
              <a:xfrm>
                <a:off x="2157606" y="2149572"/>
                <a:ext cx="37221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WHT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6F3909-F3B4-9C8A-CBE2-0D4380EA5C64}"/>
                  </a:ext>
                </a:extLst>
              </p:cNvPr>
              <p:cNvSpPr txBox="1"/>
              <p:nvPr/>
            </p:nvSpPr>
            <p:spPr>
              <a:xfrm>
                <a:off x="2157606" y="2266363"/>
                <a:ext cx="35618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GRN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083CF3-9974-56A6-F4D5-06110FF40C22}"/>
                  </a:ext>
                </a:extLst>
              </p:cNvPr>
              <p:cNvSpPr txBox="1"/>
              <p:nvPr/>
            </p:nvSpPr>
            <p:spPr>
              <a:xfrm>
                <a:off x="2157606" y="2383156"/>
                <a:ext cx="3690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>
                    <a:solidFill>
                      <a:schemeClr val="bg1"/>
                    </a:solidFill>
                  </a:rPr>
                  <a:t>YLW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0D5E868-83BB-204F-3B5C-0BB93B6BE7B7}"/>
                  </a:ext>
                </a:extLst>
              </p:cNvPr>
              <p:cNvGrpSpPr/>
              <p:nvPr/>
            </p:nvGrpSpPr>
            <p:grpSpPr>
              <a:xfrm>
                <a:off x="3000291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1D425C3-68EF-A9FB-728D-C8DDE420384B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VDD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1FE19B4-70D2-AE08-73F8-3DA9233E4A7A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352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VCC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BAF926B-2580-5E9E-1AE2-C95658D00AFF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4817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DAT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BDCE060-9336-4944-3EFA-5D2A73298891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5137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CLK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37044D1-B6AA-29FB-2384-A8B4065983E3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325FF4C-B4C5-D398-7884-5512CBFCF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01033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1EC51B2-5E45-9BB0-6E78-F7B5AABAC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135092"/>
                <a:ext cx="36237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8FD8A08-9E6C-040A-9963-DB30FF46B0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250887"/>
                <a:ext cx="362378" cy="0"/>
              </a:xfrm>
              <a:prstGeom prst="line">
                <a:avLst/>
              </a:prstGeom>
              <a:ln w="2540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AFC913C-3483-B293-E85C-7EB1BC6F9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375647"/>
                <a:ext cx="362378" cy="0"/>
              </a:xfrm>
              <a:prstGeom prst="line">
                <a:avLst/>
              </a:prstGeom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8F513DF-75C3-EFE6-D542-710768E84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68331" y="2484449"/>
                <a:ext cx="362378" cy="0"/>
              </a:xfrm>
              <a:prstGeom prst="line">
                <a:avLst/>
              </a:prstGeom>
              <a:ln w="254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6861CE1-9353-5479-8A33-53235C3298E2}"/>
                  </a:ext>
                </a:extLst>
              </p:cNvPr>
              <p:cNvGrpSpPr/>
              <p:nvPr/>
            </p:nvGrpSpPr>
            <p:grpSpPr>
              <a:xfrm>
                <a:off x="3565070" y="1924950"/>
                <a:ext cx="356188" cy="651832"/>
                <a:chOff x="3000291" y="1924950"/>
                <a:chExt cx="356188" cy="651832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872C756-353D-E5B5-D130-C5FDA5F1E80F}"/>
                    </a:ext>
                  </a:extLst>
                </p:cNvPr>
                <p:cNvSpPr txBox="1"/>
                <p:nvPr/>
              </p:nvSpPr>
              <p:spPr>
                <a:xfrm>
                  <a:off x="3000291" y="1924950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D1FC69D-3351-A78B-3189-EA6B7B9D6D81}"/>
                    </a:ext>
                  </a:extLst>
                </p:cNvPr>
                <p:cNvSpPr txBox="1"/>
                <p:nvPr/>
              </p:nvSpPr>
              <p:spPr>
                <a:xfrm>
                  <a:off x="3000291" y="2041741"/>
                  <a:ext cx="279244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5V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08974AC-AC4B-A5B5-DB4B-C8860D822B10}"/>
                    </a:ext>
                  </a:extLst>
                </p:cNvPr>
                <p:cNvSpPr txBox="1"/>
                <p:nvPr/>
              </p:nvSpPr>
              <p:spPr>
                <a:xfrm>
                  <a:off x="3000291" y="2158532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Pin4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1E61180-415F-400D-CC5D-10F280E80FC2}"/>
                    </a:ext>
                  </a:extLst>
                </p:cNvPr>
                <p:cNvSpPr txBox="1"/>
                <p:nvPr/>
              </p:nvSpPr>
              <p:spPr>
                <a:xfrm>
                  <a:off x="3000291" y="2275323"/>
                  <a:ext cx="33374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Pin5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809F0B3-EF3F-3250-869B-4228FDBB3ACD}"/>
                    </a:ext>
                  </a:extLst>
                </p:cNvPr>
                <p:cNvSpPr txBox="1"/>
                <p:nvPr/>
              </p:nvSpPr>
              <p:spPr>
                <a:xfrm>
                  <a:off x="3000291" y="2392116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 b="1" dirty="0">
                      <a:solidFill>
                        <a:schemeClr val="bg1"/>
                      </a:solidFill>
                    </a:rPr>
                    <a:t>GND</a:t>
                  </a:r>
                </a:p>
              </p:txBody>
            </p:sp>
          </p:grp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28CEE47-4F2F-4968-789F-4D9A28D94667}"/>
              </a:ext>
            </a:extLst>
          </p:cNvPr>
          <p:cNvGrpSpPr/>
          <p:nvPr/>
        </p:nvGrpSpPr>
        <p:grpSpPr>
          <a:xfrm>
            <a:off x="628536" y="5119884"/>
            <a:ext cx="1740156" cy="1740156"/>
            <a:chOff x="4733365" y="2330572"/>
            <a:chExt cx="1740156" cy="1740156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4626F54D-CC3F-3363-6198-5CC26342103B}"/>
                </a:ext>
              </a:extLst>
            </p:cNvPr>
            <p:cNvGrpSpPr/>
            <p:nvPr/>
          </p:nvGrpSpPr>
          <p:grpSpPr>
            <a:xfrm>
              <a:off x="5056659" y="2652010"/>
              <a:ext cx="1093569" cy="1097280"/>
              <a:chOff x="2896225" y="1968494"/>
              <a:chExt cx="1093569" cy="1097280"/>
            </a:xfrm>
          </p:grpSpPr>
          <p:pic>
            <p:nvPicPr>
              <p:cNvPr id="150" name="Picture 2" descr="SparkFun Load Cell Amplifier - HX711">
                <a:extLst>
                  <a:ext uri="{FF2B5EF4-FFF2-40B4-BE49-F238E27FC236}">
                    <a16:creationId xmlns:a16="http://schemas.microsoft.com/office/drawing/2014/main" id="{6139AEBF-4FF0-45FF-085B-5C0B23A21E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641" t="37963" r="42131" b="46296"/>
              <a:stretch/>
            </p:blipFill>
            <p:spPr bwMode="auto">
              <a:xfrm>
                <a:off x="2910959" y="1968494"/>
                <a:ext cx="1061557" cy="1097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FC108651-083C-A9E7-36C0-E01BC13D1F29}"/>
                  </a:ext>
                </a:extLst>
              </p:cNvPr>
              <p:cNvCxnSpPr>
                <a:cxnSpLocks/>
                <a:stCxn id="152" idx="2"/>
              </p:cNvCxnSpPr>
              <p:nvPr/>
            </p:nvCxnSpPr>
            <p:spPr>
              <a:xfrm flipH="1">
                <a:off x="3443009" y="2374445"/>
                <a:ext cx="1" cy="305256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26C7E82-3AA7-A2E3-5F30-650C8FDF0636}"/>
                  </a:ext>
                </a:extLst>
              </p:cNvPr>
              <p:cNvSpPr txBox="1"/>
              <p:nvPr/>
            </p:nvSpPr>
            <p:spPr>
              <a:xfrm>
                <a:off x="2896225" y="2159001"/>
                <a:ext cx="10935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rgbClr val="FFFF00"/>
                    </a:solidFill>
                  </a:rPr>
                  <a:t>CUT AMP for 80 Hz</a:t>
                </a:r>
              </a:p>
            </p:txBody>
          </p:sp>
        </p:grp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9BDA41E7-196D-10B3-64A5-22AFFF136B89}"/>
                </a:ext>
              </a:extLst>
            </p:cNvPr>
            <p:cNvSpPr/>
            <p:nvPr/>
          </p:nvSpPr>
          <p:spPr>
            <a:xfrm>
              <a:off x="4733365" y="2330572"/>
              <a:ext cx="1740156" cy="1740156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9AB7BE72-3EEF-EE5A-2E32-5274CA2985DB}"/>
              </a:ext>
            </a:extLst>
          </p:cNvPr>
          <p:cNvSpPr txBox="1"/>
          <p:nvPr/>
        </p:nvSpPr>
        <p:spPr>
          <a:xfrm>
            <a:off x="2366149" y="5815235"/>
            <a:ext cx="8837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Note: To archive 80Hz sampling rate, we need to cut the back of load cell amplifier</a:t>
            </a:r>
          </a:p>
        </p:txBody>
      </p:sp>
    </p:spTree>
    <p:extLst>
      <p:ext uri="{BB962C8B-B14F-4D97-AF65-F5344CB8AC3E}">
        <p14:creationId xmlns:p14="http://schemas.microsoft.com/office/powerpoint/2010/main" val="68162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ECF9-5A19-463C-F231-ABD72792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Bonsai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A7110-60B0-BDA3-0CC9-FE5896CBE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872" y="2064360"/>
            <a:ext cx="26700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12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299</Words>
  <Application>Microsoft Office PowerPoint</Application>
  <PresentationFormat>Widescreen</PresentationFormat>
  <Paragraphs>143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Hardware of iMOSS</vt:lpstr>
      <vt:lpstr>iMOSS workflow</vt:lpstr>
      <vt:lpstr>Material list</vt:lpstr>
      <vt:lpstr>iMOSS-AS hardware module</vt:lpstr>
      <vt:lpstr>Bonsai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Ye, Zengyou (NIH/NIDA) [E]</dc:creator>
  <cp:lastModifiedBy>Ye, Zengyou (NIH/NIDA) [E]</cp:lastModifiedBy>
  <cp:revision>5</cp:revision>
  <dcterms:created xsi:type="dcterms:W3CDTF">2026-05-13T22:14:13Z</dcterms:created>
  <dcterms:modified xsi:type="dcterms:W3CDTF">2026-05-14T14:11:28Z</dcterms:modified>
</cp:coreProperties>
</file>